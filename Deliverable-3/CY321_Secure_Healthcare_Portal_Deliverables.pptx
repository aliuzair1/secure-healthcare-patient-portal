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972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CY321  ·  SECURE SOFTWARE DEVELOPMENT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Healthcare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77240" y="26060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Portal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9D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Modelling  ·  Secure Implementation  ·  Penetration Testing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297680"/>
            <a:ext cx="1828800" cy="0"/>
          </a:xfrm>
          <a:prstGeom prst="line">
            <a:avLst/>
          </a:prstGeom>
          <a:noFill/>
          <a:ln w="25400">
            <a:solidFill>
              <a:srgbClr val="00A8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480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GIK Institute of Engineering Sciences &amp; Technology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846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FA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 Science &amp; Engineering  |  Spring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0" y="5349240"/>
            <a:ext cx="4023360" cy="1188720"/>
          </a:xfrm>
          <a:prstGeom prst="rect">
            <a:avLst/>
          </a:prstGeom>
          <a:solidFill>
            <a:srgbClr val="071630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5440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0" y="5715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 Presentation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6080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CY321 Final Presentation  ·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0" y="530352"/>
            <a:ext cx="109728" cy="109728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274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914400" cy="0"/>
          </a:xfrm>
          <a:prstGeom prst="line">
            <a:avLst/>
          </a:prstGeom>
          <a:noFill/>
          <a:ln w="25400">
            <a:solidFill>
              <a:srgbClr val="00A8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69494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portals manage Protected Health Information (PHI) — among the most sensitive personal data classes.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breaches expose patients to identity theft, insurance fraud, and serious privacy harm.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threats include credential stuffing, SQL injection, ransomware, and insider misuse.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frameworks (HIPAA, OWASP Top 10 2021, NIST SP 800-53) demand security from day one.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 doctor–patient–admin portal engineered with defence-in-depth across every layer.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955280" y="1371600"/>
            <a:ext cx="3749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0" y="1371600"/>
            <a:ext cx="109728" cy="132588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0" y="15087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229600" y="2148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Health Information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0" y="2926080"/>
            <a:ext cx="3749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955280" y="2926080"/>
            <a:ext cx="109728" cy="132588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30632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29600" y="3703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(2021)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0" y="4480560"/>
            <a:ext cx="3749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0" y="4480560"/>
            <a:ext cx="109728" cy="132588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46177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229600" y="5257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Rule Aligned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CY321 — Secure Software Development  ·  Secure Healthcare Patient Portal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0" y="530352"/>
            <a:ext cx="109728" cy="109728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274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914400" cy="0"/>
          </a:xfrm>
          <a:prstGeom prst="line">
            <a:avLst/>
          </a:prstGeom>
          <a:noFill/>
          <a:ln w="25400">
            <a:solidFill>
              <a:srgbClr val="00A8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80160"/>
            <a:ext cx="3657600" cy="73152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447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PHI at rest (AES-256) and in transit (TLS 1.3) with strict access controls.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28016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1280160"/>
            <a:ext cx="3657600" cy="73152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4447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19202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and sanitise all inputs; parameterised queries; signed JWT tokens.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28016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1280160"/>
            <a:ext cx="3657600" cy="73152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14447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66760" y="19202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limiting, WAF perimeter, and resilient session handling.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01752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017520"/>
            <a:ext cx="3657600" cy="73152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1821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77240" y="36576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audit logs for every authentication and sensitive action.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43400" y="301752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43400" y="3017520"/>
            <a:ext cx="3657600" cy="73152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31821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72000" y="36576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plus Supabase RLS enforce per-role and per-row data scope.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38160" y="301752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38160" y="3017520"/>
            <a:ext cx="3657600" cy="73152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31821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366760" y="36576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OWASP Top 10 2021, NIST SP 800-53, and HIPAA principles.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58521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Pillars: CIA Triad  ·  Least Privilege  ·  Defence-in-Depth  ·  Auditability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CY321 — Secure Software Development  ·  Secure Healthcare Patient Portal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0" y="530352"/>
            <a:ext cx="109728" cy="109728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274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1 — Planning &amp; Threat Modelling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914400" cy="0"/>
          </a:xfrm>
          <a:prstGeom prst="line">
            <a:avLst/>
          </a:prstGeom>
          <a:noFill/>
          <a:ln w="25400">
            <a:solidFill>
              <a:srgbClr val="00A8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security foundation: requirements, risk analysis, and threat modelling before code.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365760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600200"/>
            <a:ext cx="365760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916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45920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Requirements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560320"/>
            <a:ext cx="31089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MFA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(TLS, AES-256)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&amp; RBAC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error handling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1600200"/>
            <a:ext cx="365760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43400" y="1600200"/>
            <a:ext cx="365760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6916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40680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17720" y="2560320"/>
            <a:ext cx="31089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&amp; data classification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likelihood × impact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Risk-ranked mitigation list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Residual-risk tracking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38160" y="1600200"/>
            <a:ext cx="365760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38160" y="1600200"/>
            <a:ext cx="365760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16916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235440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Modelling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12480" y="2560320"/>
            <a:ext cx="31089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applied per data flow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Trust-boundary identification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Attack-surface enumeration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catalogue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CY321 — Secure Software Development  ·  Secure Healthcare Patient Portal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0" y="530352"/>
            <a:ext cx="109728" cy="109728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274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Requirements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914400" cy="0"/>
          </a:xfrm>
          <a:prstGeom prst="line">
            <a:avLst/>
          </a:prstGeom>
          <a:noFill/>
          <a:ln w="25400">
            <a:solidFill>
              <a:srgbClr val="00A8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Authentication: OAuth2 + JWT with TOTP-based MFA and AAL2 elevation for sensitive operations.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Authorisation: RBAC across patient / doctor / admin roles, reinforced by Supabase Row-Level Security.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Encryption: TLS 1.3 in transit and AES-256 at rest; RSA-OAEP 2048 for end-to-end chat.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Validation: server-side validators, parameterised queries, and output sanitisation.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Security: short-lived access tokens, refresh rotation, inactivity timeout, and revocation.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63840" y="1371600"/>
            <a:ext cx="1828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0" y="1600200"/>
            <a:ext cx="640080" cy="64008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778240" y="160020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0" y="2331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875520" y="1371600"/>
            <a:ext cx="1828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058400" y="1600200"/>
            <a:ext cx="640080" cy="64008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89920" y="160020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0" y="2331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863840" y="2926080"/>
            <a:ext cx="1828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0" y="3154680"/>
            <a:ext cx="640080" cy="64008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778240" y="315468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0" y="3886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875520" y="2926080"/>
            <a:ext cx="1828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058400" y="3154680"/>
            <a:ext cx="640080" cy="64008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789920" y="315468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Encryption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0" y="3886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863840" y="4480560"/>
            <a:ext cx="1828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46720" y="4709160"/>
            <a:ext cx="640080" cy="64008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0" y="4709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778240" y="470916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At-Rest Encryption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46720" y="5440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875520" y="4480560"/>
            <a:ext cx="1828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058400" y="4709160"/>
            <a:ext cx="640080" cy="64008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0" y="4709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789920" y="470916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Auth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058400" y="5440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CY321 — Secure Software Development  ·  Secure Healthcare Patient Portal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0" y="530352"/>
            <a:ext cx="109728" cy="109728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274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Modelling — STRIDE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914400" cy="0"/>
          </a:xfrm>
          <a:prstGeom prst="line">
            <a:avLst/>
          </a:prstGeom>
          <a:noFill/>
          <a:ln w="25400">
            <a:solidFill>
              <a:srgbClr val="00A8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framework that maps each threat to the security property it violates.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874520"/>
            <a:ext cx="777240" cy="77724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74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737360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73736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falsification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108960"/>
            <a:ext cx="3108960" cy="457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Violates: </a:t>
            </a:r>
            <a:pPr indent="0" marL="0">
              <a:buNone/>
            </a:pPr>
            <a:r>
              <a:rPr lang="en-US" sz="11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160020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874520"/>
            <a:ext cx="777240" cy="77724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874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532120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53212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Unauthorised data modification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3108960"/>
            <a:ext cx="3108960" cy="457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Violates: </a:t>
            </a:r>
            <a:pPr indent="0" marL="0">
              <a:buNone/>
            </a:pPr>
            <a:r>
              <a:rPr lang="en-US" sz="11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38160" y="160020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412480" y="1874520"/>
            <a:ext cx="777240" cy="77724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1874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326880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Repudiation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32688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Denying actions performed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412480" y="3108960"/>
            <a:ext cx="3108960" cy="457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4964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Violates: </a:t>
            </a:r>
            <a:pPr indent="0" marL="0">
              <a:buNone/>
            </a:pPr>
            <a:r>
              <a:rPr lang="en-US" sz="11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Non-repudiation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97764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2960" y="4251960"/>
            <a:ext cx="777240" cy="77724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251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1737360" y="4251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Disclosure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737360" y="4663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of sensitive data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2960" y="5486400"/>
            <a:ext cx="3108960" cy="457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5486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Violates: </a:t>
            </a:r>
            <a:pPr indent="0" marL="0">
              <a:buNone/>
            </a:pPr>
            <a:r>
              <a:rPr lang="en-US" sz="11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343400" y="397764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17720" y="4251960"/>
            <a:ext cx="777240" cy="77724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4251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5532120" y="4251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of Service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5532120" y="4663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Disrupting availability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17720" y="5486400"/>
            <a:ext cx="3108960" cy="457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5486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Violates: </a:t>
            </a:r>
            <a:pPr indent="0" marL="0">
              <a:buNone/>
            </a:pPr>
            <a:r>
              <a:rPr lang="en-US" sz="11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138160" y="397764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412480" y="4251960"/>
            <a:ext cx="777240" cy="77724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12480" y="4251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3000" dirty="0"/>
          </a:p>
        </p:txBody>
      </p:sp>
      <p:sp>
        <p:nvSpPr>
          <p:cNvPr id="45" name="Text 43"/>
          <p:cNvSpPr/>
          <p:nvPr/>
        </p:nvSpPr>
        <p:spPr>
          <a:xfrm>
            <a:off x="9326880" y="4251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Elev. of Privilege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9326880" y="4663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Gaining unauthorised access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412480" y="5486400"/>
            <a:ext cx="3108960" cy="457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49640" y="5486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Violates: </a:t>
            </a:r>
            <a:pPr indent="0" marL="0">
              <a:buNone/>
            </a:pPr>
            <a:r>
              <a:rPr lang="en-US" sz="11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Authorisation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CY321 — Secure Software Development  ·  Secure Healthcare Patient Portal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0" y="530352"/>
            <a:ext cx="109728" cy="109728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274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Threats Identified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914400" cy="0"/>
          </a:xfrm>
          <a:prstGeom prst="line">
            <a:avLst/>
          </a:prstGeom>
          <a:noFill/>
          <a:ln w="25400">
            <a:solidFill>
              <a:srgbClr val="00A8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and high-severity threats prioritised during STRIDE analysis.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554480"/>
            <a:ext cx="164592" cy="21488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783080"/>
            <a:ext cx="1097280" cy="310896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7830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0312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(OWASP A03)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2402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00" b="1" spc="3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input reaching SQL queries — full DB compromise possible.
</a:t>
            </a:r>
            <a:pPr indent="0" marL="0">
              <a:spcAft>
                <a:spcPts val="600"/>
              </a:spcAft>
              <a:buNone/>
            </a:pPr>
            <a:r>
              <a:rPr lang="en-US" sz="900" b="1" spc="3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SQLI rules + parameterised Supabase queries + server-side validators.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4864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554480"/>
            <a:ext cx="164592" cy="21488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1783080"/>
            <a:ext cx="1097280" cy="310896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7830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/ Reflected XSS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0" y="22402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00" b="1" spc="3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injection into rendered pages — session hijack and PHI theft.
</a:t>
            </a:r>
            <a:pPr indent="0" marL="0">
              <a:spcAft>
                <a:spcPts val="600"/>
              </a:spcAft>
              <a:buNone/>
            </a:pPr>
            <a:r>
              <a:rPr lang="en-US" sz="900" b="1" spc="3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XSS rules + sanitizeHTML output encoding + strict CSP.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54864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840480"/>
            <a:ext cx="164592" cy="214884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069080"/>
            <a:ext cx="1097280" cy="310896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0690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03120" y="4023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 (IDOR)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4400" y="45262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00" b="1" spc="3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bypass or cross-user access via UUID manipulation.
</a:t>
            </a:r>
            <a:pPr indent="0" marL="0">
              <a:spcAft>
                <a:spcPts val="600"/>
              </a:spcAft>
              <a:buNone/>
            </a:pPr>
            <a:r>
              <a:rPr lang="en-US" sz="900" b="1" spc="3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@require_role + @require_self_or_role + Supabase Row-Level Security.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3840480"/>
            <a:ext cx="54864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3840480"/>
            <a:ext cx="164592" cy="214884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0" y="4069080"/>
            <a:ext cx="1097280" cy="310896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40690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4023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Bypass / Token Replay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583680" y="45262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00" b="1" spc="3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Forged JWT or downgraded session reaching sensitive routes.
</a:t>
            </a:r>
            <a:pPr indent="0" marL="0">
              <a:spcAft>
                <a:spcPts val="600"/>
              </a:spcAft>
              <a:buNone/>
            </a:pPr>
            <a:r>
              <a:rPr lang="en-US" sz="900" b="1" spc="3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AAL2 token elevation, signature verification, and @require_mfa decorator.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CY321 — Secure Software Development  ·  Secure Healthcare Patient Portal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0" y="530352"/>
            <a:ext cx="109728" cy="109728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274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2 — Secure Implementation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914400" cy="0"/>
          </a:xfrm>
          <a:prstGeom prst="line">
            <a:avLst/>
          </a:prstGeom>
          <a:noFill/>
          <a:ln w="25400">
            <a:solidFill>
              <a:srgbClr val="00A8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the security plan into hardened code across every tier of the stack.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874520"/>
            <a:ext cx="914400" cy="91440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20240" y="1920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92024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28803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+ Tailwind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Content-Security-Policy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sanitisation hook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RSA-OAEP 2048 chat encryption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60020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92240" y="1874520"/>
            <a:ext cx="914400" cy="9144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89520" y="1920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58952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92240" y="28803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 with middleware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validation + RBAC decorators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input validators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Flask-Limiter rate limiting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206240"/>
            <a:ext cx="914400" cy="914400"/>
          </a:xfrm>
          <a:prstGeom prst="ellipse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206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920240" y="4251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Firewall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920240" y="4709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" y="52120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custom signature rules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Risk-scored decision engine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Obfuscation detection (+0.10)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2021 coverage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393192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92240" y="4206240"/>
            <a:ext cx="914400" cy="91440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4206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589520" y="4251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SIEM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589520" y="4709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92240" y="52120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logs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ingestion pipeline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alerting rules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Per-IP attack frequency view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CY321 — Secure Software Development  ·  Secure Healthcare Patient Portal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0" y="530352"/>
            <a:ext cx="109728" cy="109728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274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Code Implementation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914400" cy="0"/>
          </a:xfrm>
          <a:prstGeom prst="line">
            <a:avLst/>
          </a:prstGeom>
          <a:noFill/>
          <a:ln w="25400">
            <a:solidFill>
              <a:srgbClr val="00A8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548640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80160"/>
            <a:ext cx="548640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371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(React + Vite)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hardening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240280"/>
            <a:ext cx="49377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sanitizeHTML() encodes &amp;, &lt;, &gt;, " before rendering.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useSecureForm hook applied on every form submission.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RSA-OAEP 2048 generated via Web Crypto API for chat.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kept in memory only — never in localStorage.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CSP blocks inline scripts and unknown origins.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280160"/>
            <a:ext cx="548640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280160"/>
            <a:ext cx="548640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371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(Flask + Python)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796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defence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37960" y="2240280"/>
            <a:ext cx="49377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Supabase queries — no string concatenation.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decorators: @require_auth, @require_role, @require_mfa.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 reject SQL / XSS / path-traversal patterns.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4xx/5xx responses; stack traces suppressed in prod.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read from environment variables only.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CY321 — Secure Software Development  ·  Secure Healthcare Patient Portal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0" y="530352"/>
            <a:ext cx="109728" cy="109728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274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&amp; SIEM Integration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914400" cy="0"/>
          </a:xfrm>
          <a:prstGeom prst="line">
            <a:avLst/>
          </a:prstGeom>
          <a:noFill/>
          <a:ln w="25400">
            <a:solidFill>
              <a:srgbClr val="00A8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PIPELINE  ·  6 STEPS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6608" y="1280160"/>
            <a:ext cx="169164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6608" y="1280160"/>
            <a:ext cx="1691640" cy="54864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048" y="1371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6608" y="1463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42820" y="1586484"/>
            <a:ext cx="100584" cy="164592"/>
          </a:xfrm>
          <a:prstGeom prst="rightArrow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47976" y="1280160"/>
            <a:ext cx="169164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7976" y="1280160"/>
            <a:ext cx="1691640" cy="54864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39416" y="1371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47976" y="1463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44188" y="1586484"/>
            <a:ext cx="100584" cy="164592"/>
          </a:xfrm>
          <a:prstGeom prst="rightArrow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9344" y="1280160"/>
            <a:ext cx="169164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49344" y="1280160"/>
            <a:ext cx="1691640" cy="54864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40784" y="1371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49344" y="1463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45556" y="1586484"/>
            <a:ext cx="100584" cy="164592"/>
          </a:xfrm>
          <a:prstGeom prst="rightArrow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50712" y="1280160"/>
            <a:ext cx="169164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50712" y="1280160"/>
            <a:ext cx="1691640" cy="54864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42152" y="1371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50712" y="1463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846924" y="1586484"/>
            <a:ext cx="100584" cy="164592"/>
          </a:xfrm>
          <a:prstGeom prst="rightArrow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2080" y="1280160"/>
            <a:ext cx="169164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52080" y="1280160"/>
            <a:ext cx="1691640" cy="54864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3520" y="1371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952080" y="1463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648292" y="1586484"/>
            <a:ext cx="100584" cy="164592"/>
          </a:xfrm>
          <a:prstGeom prst="rightArrow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53448" y="1280160"/>
            <a:ext cx="169164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53448" y="1280160"/>
            <a:ext cx="1691640" cy="54864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44888" y="1371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753448" y="14630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2468880"/>
            <a:ext cx="54864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8640" y="2468880"/>
            <a:ext cx="164592" cy="379476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" y="2606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FIREWALL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68680" y="2926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51-Rule Custom Engine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868680" y="3520440"/>
            <a:ext cx="50292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SQLI, XSS, CMDI, SSRF, XXE, SSTI, BAC, OBF, BOT.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tiers: BLOCK / CHALLENGE / RATE_LIMIT / LOG / ALLOW.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escalates +0.10 on double-encoded or unicode tricks.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allow/blocklist via /waf/admin/* with X-WAF-Admin-Key.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every rule to an OWASP Top 10 2021 category.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63640" y="2468880"/>
            <a:ext cx="54864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63640" y="2468880"/>
            <a:ext cx="164592" cy="379476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2606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INTEGRATION  ·  WAZUH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83680" y="2926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</a:t>
            </a:r>
            <a:endParaRPr lang="en-US" sz="1900" dirty="0"/>
          </a:p>
        </p:txBody>
      </p:sp>
      <p:sp>
        <p:nvSpPr>
          <p:cNvPr id="45" name="Text 43"/>
          <p:cNvSpPr/>
          <p:nvPr/>
        </p:nvSpPr>
        <p:spPr>
          <a:xfrm>
            <a:off x="6583680" y="3520440"/>
            <a:ext cx="50292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logs from app, access, and attack streams.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files: 10 MB max, 5 backups; SIEM-ready format.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group alerts by rule (SQLI, XSS, CMDI, BOT, SSRF).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Per-IP attack frequency and severity distribution charts.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on multiple failed logins and other anomalies.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CY321 — Secure Software Development  ·  Secure Healthcare Patient Portal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0" y="530352"/>
            <a:ext cx="109728" cy="109728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274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3 — Review, Testing &amp; Fixes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914400" cy="0"/>
          </a:xfrm>
          <a:prstGeom prst="line">
            <a:avLst/>
          </a:prstGeom>
          <a:noFill/>
          <a:ln w="25400">
            <a:solidFill>
              <a:srgbClr val="00A8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the implementation through systematic review, testing, and remediation.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365760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600200"/>
            <a:ext cx="164592" cy="461772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74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Code Review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3017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SAST across all backend Python and frontend JavaScript files.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84632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OWASP-aligned review checklist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findings logged with severity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1600200"/>
            <a:ext cx="365760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43400" y="1600200"/>
            <a:ext cx="164592" cy="461772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874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709160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709160" y="3017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DAST with curl, Postman, sqlmap, and custom payload scripts.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484632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authz, injection, RL phases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test cases across categories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1600200"/>
            <a:ext cx="365760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8160" y="1600200"/>
            <a:ext cx="164592" cy="461772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1874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503920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&amp; Hardening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03920" y="3017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findings resolved before final submission and demo.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03920" y="484632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vulnerabilities remediated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open issues at handover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CY321 — Secure Software Development  ·  Secure Healthcare Patient Portal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0" y="530352"/>
            <a:ext cx="109728" cy="109728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274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 &amp; Results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914400" cy="0"/>
          </a:xfrm>
          <a:prstGeom prst="line">
            <a:avLst/>
          </a:prstGeom>
          <a:noFill/>
          <a:ln w="25400">
            <a:solidFill>
              <a:srgbClr val="00A8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2697480" cy="12801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2697480" cy="73152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48640" y="212140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280160"/>
            <a:ext cx="2697480" cy="12801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280160"/>
            <a:ext cx="2697480" cy="73152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41732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383280" y="212140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2697480" cy="12801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280160"/>
            <a:ext cx="2697480" cy="73152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41732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217920" y="212140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 Fixed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52560" y="1280160"/>
            <a:ext cx="2697480" cy="12801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52560" y="1280160"/>
            <a:ext cx="2697480" cy="73152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0" y="141732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9052560" y="212140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Issues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788920"/>
            <a:ext cx="68580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2880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RESULTS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3246120"/>
            <a:ext cx="6400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Session — invalid / expired JWTs and MFA bypass attempts blocked.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Authorisation &amp; IDOR — cross-role and UUID-tampering attacks denied at decorator layer.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(SQLi / XSS / CMDI / SSTI) — every payload blocked by WAF with HTTP 403.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— brute-force triggered HTTP 429 after switch to shared Redis storage.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&amp; TLS — CSP, HSTS, X-Frame-Options, Permissions-Policy verified present.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0" y="2788920"/>
            <a:ext cx="4206240" cy="35204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8120" y="2926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EFFECTIVENESS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18120" y="32461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6000" dirty="0"/>
          </a:p>
        </p:txBody>
      </p:sp>
      <p:sp>
        <p:nvSpPr>
          <p:cNvPr id="28" name="Text 26"/>
          <p:cNvSpPr/>
          <p:nvPr/>
        </p:nvSpPr>
        <p:spPr>
          <a:xfrm>
            <a:off x="7818120" y="41605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9D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rate across all 21 attack payloads tested in production.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818120" y="48463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 UNION / SLEEP probes — blocked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script &amp; SVG payloads — blocked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Double-encoded XSS (OBF-001) — blocked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sqlmap user-agent — blocked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CY321 — Secure Software Development  ·  Secure Healthcare Patient Portal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0" y="530352"/>
            <a:ext cx="109728" cy="109728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274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Code Review &amp; Fixes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914400" cy="0"/>
          </a:xfrm>
          <a:prstGeom prst="line">
            <a:avLst/>
          </a:prstGeom>
          <a:noFill/>
          <a:ln w="25400">
            <a:solidFill>
              <a:srgbClr val="00A8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34440"/>
            <a:ext cx="11247120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34440"/>
            <a:ext cx="42062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1234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0" y="1234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Applied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0" y="12344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1691640"/>
            <a:ext cx="11247120" cy="594360"/>
          </a:xfrm>
          <a:prstGeom prst="rect">
            <a:avLst/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6916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originally set to wildcard '*'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1856232"/>
            <a:ext cx="1371600" cy="292608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8562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0" y="16916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via CORS_ORIGINS env var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058400" y="1856232"/>
            <a:ext cx="1371600" cy="29260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0" y="18562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22860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header revealed Flask version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2450592"/>
            <a:ext cx="1371600" cy="292608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4505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22860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Server / X-Powered-By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058400" y="2450592"/>
            <a:ext cx="1371600" cy="29260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0" y="24505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2880360"/>
            <a:ext cx="11247120" cy="594360"/>
          </a:xfrm>
          <a:prstGeom prst="rect">
            <a:avLst/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8803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errors leaked stack traces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37760" y="3044952"/>
            <a:ext cx="1371600" cy="292608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0449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0" y="28803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JSON 5xx; logged server-side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058400" y="3044952"/>
            <a:ext cx="1371600" cy="29260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0" y="30449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34747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 missing Retry-After header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37760" y="3639312"/>
            <a:ext cx="1371600" cy="29260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36393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0" y="34747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RATELIMIT_HEADERS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058400" y="3639312"/>
            <a:ext cx="1371600" cy="29260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58400" y="36393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4069080"/>
            <a:ext cx="11247120" cy="594360"/>
          </a:xfrm>
          <a:prstGeom prst="rect">
            <a:avLst/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0690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scanned OPTIONS preflight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937760" y="4233672"/>
            <a:ext cx="1371600" cy="292608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42336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58000" y="40690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Short-circuited before WAF scan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0058400" y="4233672"/>
            <a:ext cx="1371600" cy="29260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058400" y="42336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FIXED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" y="46634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limiter used memory:// storage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937760" y="4828032"/>
            <a:ext cx="1371600" cy="292608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0" y="4828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858000" y="46634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Redis shared storage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0058400" y="4828032"/>
            <a:ext cx="1371600" cy="29260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058400" y="4828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FIXED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48640" y="59893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logged findings resolved before final submission — zero open issues at handover.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CY321 — Secure Software Development  ·  Secure Healthcare Patient Portal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0" y="530352"/>
            <a:ext cx="109728" cy="109728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274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Security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914400" cy="0"/>
          </a:xfrm>
          <a:prstGeom prst="line">
            <a:avLst/>
          </a:prstGeom>
          <a:noFill/>
          <a:ln w="25400">
            <a:solidFill>
              <a:srgbClr val="00A8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 →  WAF  →  Backend  →  Database  →  SIEM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9448" y="2377440"/>
            <a:ext cx="2011680" cy="1554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448" y="2377440"/>
            <a:ext cx="2011680" cy="73152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0888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00888" y="30632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SPA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sanitisation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39416" y="3044952"/>
            <a:ext cx="192024" cy="219456"/>
          </a:xfrm>
          <a:prstGeom prst="rightArrow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49728" y="2377440"/>
            <a:ext cx="2011680" cy="1554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49728" y="2377440"/>
            <a:ext cx="2011680" cy="73152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41168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941168" y="30632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signature rules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Risk-scored decisions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79696" y="3044952"/>
            <a:ext cx="192024" cy="219456"/>
          </a:xfrm>
          <a:prstGeom prst="rightArrow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90008" y="2377440"/>
            <a:ext cx="2011680" cy="1554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90008" y="2377440"/>
            <a:ext cx="2011680" cy="73152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81448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181448" y="30632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JWT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decorators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19976" y="3044952"/>
            <a:ext cx="192024" cy="219456"/>
          </a:xfrm>
          <a:prstGeom prst="rightArrow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30288" y="2377440"/>
            <a:ext cx="2011680" cy="1554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30288" y="2377440"/>
            <a:ext cx="2011680" cy="73152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21728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421728" y="30632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+ RLS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at rest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360256" y="3044952"/>
            <a:ext cx="192024" cy="219456"/>
          </a:xfrm>
          <a:prstGeom prst="rightArrow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70568" y="2377440"/>
            <a:ext cx="2011680" cy="1554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70568" y="2377440"/>
            <a:ext cx="2011680" cy="73152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62008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662008" y="30632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ingestion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434840"/>
            <a:ext cx="11155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526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CONTROLS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" y="48920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Authentication: </a:t>
            </a:r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JWT + TOTP MFA (AAL2)     </a:t>
            </a:r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Authorisation: </a:t>
            </a:r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decorators + Supabase RLS
</a:t>
            </a:r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Encryption: </a:t>
            </a:r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in transit, AES-256 at rest     </a:t>
            </a:r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Logging: </a:t>
            </a:r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→ Wazuh SIEM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0350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Defence-in-depth: every request crosses multiple independent layers before touching PHI.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CY321 — Secure Software Development  ·  Secure Healthcare Patient Portal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·  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Security Posture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1371600" cy="0"/>
          </a:xfrm>
          <a:prstGeom prst="line">
            <a:avLst/>
          </a:prstGeom>
          <a:noFill/>
          <a:ln w="25400">
            <a:solidFill>
              <a:srgbClr val="00A8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404872"/>
            <a:ext cx="164592" cy="164592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24028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modelling: STRIDE applied to every key data flow with risk-ranked mitigations.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2404872"/>
            <a:ext cx="164592" cy="164592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224028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Defence-in-depth: independent layers from edge inspection to RLS at the data tier.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502152"/>
            <a:ext cx="164592" cy="164592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33756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WAF: 51 rules covering every OWASP Top 10 2021 category with risk-scored decisions.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3502152"/>
            <a:ext cx="164592" cy="164592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333756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Authentication: AAL2 TOTP MFA with doctor-approval gate and anti-enumeration responses.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4599432"/>
            <a:ext cx="164592" cy="164592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443484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Authorisation: RBAC decorators reinforced by Supabase Row-Level Security at the DB.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55080" y="4599432"/>
            <a:ext cx="164592" cy="164592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443484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trail: SIEM-ready JSON logs ingested by Wazuh for real-time alerting.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solidFill>
            <a:srgbClr val="071630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56235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test cases  ·  100% pass rate  ·  12 vulnerabilities resolved  ·  zero open issues.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Healthcare Patient Portal — CY321</dc:title>
  <dc:subject>PptxGenJS Presentation</dc:subject>
  <dc:creator>CY321 Team</dc:creator>
  <cp:lastModifiedBy>CY321 Team</cp:lastModifiedBy>
  <cp:revision>1</cp:revision>
  <dcterms:created xsi:type="dcterms:W3CDTF">2026-05-05T18:52:40Z</dcterms:created>
  <dcterms:modified xsi:type="dcterms:W3CDTF">2026-05-05T18:52:40Z</dcterms:modified>
</cp:coreProperties>
</file>